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Nunito SemiBold"/>
      <p:regular r:id="rId17"/>
      <p:bold r:id="rId18"/>
      <p:italic r:id="rId19"/>
      <p:boldItalic r:id="rId20"/>
    </p:embeddedFont>
    <p:embeddedFont>
      <p:font typeface="Raleway"/>
      <p:regular r:id="rId21"/>
      <p:bold r:id="rId22"/>
      <p:italic r:id="rId23"/>
      <p:boldItalic r:id="rId24"/>
    </p:embeddedFont>
    <p:embeddedFont>
      <p:font typeface="Lato"/>
      <p:regular r:id="rId25"/>
      <p:bold r:id="rId26"/>
      <p:italic r:id="rId27"/>
      <p:boldItalic r:id="rId28"/>
    </p:embeddedFont>
    <p:embeddedFont>
      <p:font typeface="Maven Pro Medium"/>
      <p:regular r:id="rId29"/>
      <p:bold r:id="rId30"/>
    </p:embeddedFont>
    <p:embeddedFont>
      <p:font typeface="Nunito Medium"/>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SemiBold-boldItalic.fntdata"/><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avenPro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Medium-regular.fntdata"/><Relationship Id="rId30" Type="http://schemas.openxmlformats.org/officeDocument/2006/relationships/font" Target="fonts/MavenProMedium-bold.fntdata"/><Relationship Id="rId11" Type="http://schemas.openxmlformats.org/officeDocument/2006/relationships/slide" Target="slides/slide6.xml"/><Relationship Id="rId33" Type="http://schemas.openxmlformats.org/officeDocument/2006/relationships/font" Target="fonts/NunitoMedium-italic.fntdata"/><Relationship Id="rId10" Type="http://schemas.openxmlformats.org/officeDocument/2006/relationships/slide" Target="slides/slide5.xml"/><Relationship Id="rId32" Type="http://schemas.openxmlformats.org/officeDocument/2006/relationships/font" Target="fonts/NunitoMedium-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NunitoMedium-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SemiBold-regular.fntdata"/><Relationship Id="rId16" Type="http://schemas.openxmlformats.org/officeDocument/2006/relationships/slide" Target="slides/slide11.xml"/><Relationship Id="rId19" Type="http://schemas.openxmlformats.org/officeDocument/2006/relationships/font" Target="fonts/NunitoSemiBold-italic.fntdata"/><Relationship Id="rId18" Type="http://schemas.openxmlformats.org/officeDocument/2006/relationships/font" Target="fonts/Nunito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02ac213ad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02ac213ad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02ac213ad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02ac213ad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02ac213ad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02ac213ad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02ac213ada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02ac213ad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02ac213ad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02ac213ad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02ac213ad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02ac213ad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02ac213ad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02ac213ad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02ac213ad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02ac213ad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02ac213ad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02ac213ad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02ac213ada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02ac213ada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0" name="Shape 10"/>
        <p:cNvGrpSpPr/>
        <p:nvPr/>
      </p:nvGrpSpPr>
      <p:grpSpPr>
        <a:xfrm>
          <a:off x="0" y="0"/>
          <a:ext cx="0" cy="0"/>
          <a:chOff x="0" y="0"/>
          <a:chExt cx="0" cy="0"/>
        </a:xfrm>
      </p:grpSpPr>
      <p:sp>
        <p:nvSpPr>
          <p:cNvPr id="11" name="Google Shape;11;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830392" y="1191256"/>
            <a:ext cx="745763" cy="45826"/>
            <a:chOff x="4580561" y="2589004"/>
            <a:chExt cx="1064464" cy="25200"/>
          </a:xfrm>
        </p:grpSpPr>
        <p:sp>
          <p:nvSpPr>
            <p:cNvPr id="13" name="Google Shape;13;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6" name="Google Shape;16;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7" name="Google Shape;17;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8" name="Shape 18"/>
        <p:cNvGrpSpPr/>
        <p:nvPr/>
      </p:nvGrpSpPr>
      <p:grpSpPr>
        <a:xfrm>
          <a:off x="0" y="0"/>
          <a:ext cx="0" cy="0"/>
          <a:chOff x="0" y="0"/>
          <a:chExt cx="0" cy="0"/>
        </a:xfrm>
      </p:grpSpPr>
      <p:grpSp>
        <p:nvGrpSpPr>
          <p:cNvPr id="19" name="Google Shape;19;p3"/>
          <p:cNvGrpSpPr/>
          <p:nvPr/>
        </p:nvGrpSpPr>
        <p:grpSpPr>
          <a:xfrm>
            <a:off x="830392" y="1191256"/>
            <a:ext cx="745763" cy="45826"/>
            <a:chOff x="4580561" y="2589004"/>
            <a:chExt cx="1064464" cy="25200"/>
          </a:xfrm>
        </p:grpSpPr>
        <p:sp>
          <p:nvSpPr>
            <p:cNvPr id="20" name="Google Shape;20;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 name="Google Shape;22;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3" name="Google Shape;23;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 name="Google Shape;26;p4"/>
          <p:cNvGrpSpPr/>
          <p:nvPr/>
        </p:nvGrpSpPr>
        <p:grpSpPr>
          <a:xfrm>
            <a:off x="830392" y="1191256"/>
            <a:ext cx="745763" cy="45826"/>
            <a:chOff x="4580561" y="2589004"/>
            <a:chExt cx="1064464" cy="25200"/>
          </a:xfrm>
        </p:grpSpPr>
        <p:sp>
          <p:nvSpPr>
            <p:cNvPr id="27" name="Google Shape;27;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 name="Google Shape;29;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0" name="Google Shape;30;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 name="Google Shape;34;p5"/>
          <p:cNvGrpSpPr/>
          <p:nvPr/>
        </p:nvGrpSpPr>
        <p:grpSpPr>
          <a:xfrm>
            <a:off x="830392" y="1191256"/>
            <a:ext cx="745763" cy="45826"/>
            <a:chOff x="4580561" y="2589004"/>
            <a:chExt cx="1064464" cy="25200"/>
          </a:xfrm>
        </p:grpSpPr>
        <p:sp>
          <p:nvSpPr>
            <p:cNvPr id="35" name="Google Shape;35;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8" name="Google Shape;38;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0" name="Google Shape;40;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 name="Google Shape;43;p6"/>
          <p:cNvGrpSpPr/>
          <p:nvPr/>
        </p:nvGrpSpPr>
        <p:grpSpPr>
          <a:xfrm>
            <a:off x="830392" y="1191256"/>
            <a:ext cx="745763" cy="45826"/>
            <a:chOff x="4580561" y="2589004"/>
            <a:chExt cx="1064464" cy="25200"/>
          </a:xfrm>
        </p:grpSpPr>
        <p:sp>
          <p:nvSpPr>
            <p:cNvPr id="44" name="Google Shape;44;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7" name="Google Shape;47;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 name="Google Shape;50;p7"/>
          <p:cNvGrpSpPr/>
          <p:nvPr/>
        </p:nvGrpSpPr>
        <p:grpSpPr>
          <a:xfrm>
            <a:off x="830392" y="1191256"/>
            <a:ext cx="745763" cy="45826"/>
            <a:chOff x="4580561" y="2589004"/>
            <a:chExt cx="1064464" cy="25200"/>
          </a:xfrm>
        </p:grpSpPr>
        <p:sp>
          <p:nvSpPr>
            <p:cNvPr id="51" name="Google Shape;51;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4" name="Google Shape;54;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6" name="Shape 56"/>
        <p:cNvGrpSpPr/>
        <p:nvPr/>
      </p:nvGrpSpPr>
      <p:grpSpPr>
        <a:xfrm>
          <a:off x="0" y="0"/>
          <a:ext cx="0" cy="0"/>
          <a:chOff x="0" y="0"/>
          <a:chExt cx="0" cy="0"/>
        </a:xfrm>
      </p:grpSpPr>
      <p:grpSp>
        <p:nvGrpSpPr>
          <p:cNvPr id="57" name="Google Shape;57;p8"/>
          <p:cNvGrpSpPr/>
          <p:nvPr/>
        </p:nvGrpSpPr>
        <p:grpSpPr>
          <a:xfrm>
            <a:off x="830392" y="4169130"/>
            <a:ext cx="745763" cy="45826"/>
            <a:chOff x="4580561" y="2589004"/>
            <a:chExt cx="1064464" cy="25200"/>
          </a:xfrm>
        </p:grpSpPr>
        <p:sp>
          <p:nvSpPr>
            <p:cNvPr id="58" name="Google Shape;58;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1" name="Google Shape;61;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 name="Shape 62"/>
        <p:cNvGrpSpPr/>
        <p:nvPr/>
      </p:nvGrpSpPr>
      <p:grpSpPr>
        <a:xfrm>
          <a:off x="0" y="0"/>
          <a:ext cx="0" cy="0"/>
          <a:chOff x="0" y="0"/>
          <a:chExt cx="0" cy="0"/>
        </a:xfrm>
      </p:grpSpPr>
      <p:sp>
        <p:nvSpPr>
          <p:cNvPr id="63" name="Google Shape;63;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 name="Google Shape;64;p9"/>
          <p:cNvGrpSpPr/>
          <p:nvPr/>
        </p:nvGrpSpPr>
        <p:grpSpPr>
          <a:xfrm>
            <a:off x="830392" y="1191256"/>
            <a:ext cx="745763" cy="45826"/>
            <a:chOff x="4580561" y="2589004"/>
            <a:chExt cx="1064464" cy="25200"/>
          </a:xfrm>
        </p:grpSpPr>
        <p:sp>
          <p:nvSpPr>
            <p:cNvPr id="65" name="Google Shape;65;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 name="Google Shape;67;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8" name="Google Shape;68;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9" name="Google Shape;69;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0" name="Google Shape;70;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3" name="Google Shape;73;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4" name="Shape 74"/>
        <p:cNvGrpSpPr/>
        <p:nvPr/>
      </p:nvGrpSpPr>
      <p:grpSpPr>
        <a:xfrm>
          <a:off x="0" y="0"/>
          <a:ext cx="0" cy="0"/>
          <a:chOff x="0" y="0"/>
          <a:chExt cx="0" cy="0"/>
        </a:xfrm>
      </p:grpSpPr>
      <p:grpSp>
        <p:nvGrpSpPr>
          <p:cNvPr id="75" name="Google Shape;75;p11"/>
          <p:cNvGrpSpPr/>
          <p:nvPr/>
        </p:nvGrpSpPr>
        <p:grpSpPr>
          <a:xfrm>
            <a:off x="830392" y="4169130"/>
            <a:ext cx="745763" cy="45826"/>
            <a:chOff x="4580561" y="2589004"/>
            <a:chExt cx="1064464" cy="25200"/>
          </a:xfrm>
        </p:grpSpPr>
        <p:sp>
          <p:nvSpPr>
            <p:cNvPr id="76" name="Google Shape;76;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9" name="Google Shape;79;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80" name="Google Shape;80;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 name="Shape 81"/>
        <p:cNvGrpSpPr/>
        <p:nvPr/>
      </p:nvGrpSpPr>
      <p:grpSpPr>
        <a:xfrm>
          <a:off x="0" y="0"/>
          <a:ext cx="0" cy="0"/>
          <a:chOff x="0" y="0"/>
          <a:chExt cx="0" cy="0"/>
        </a:xfrm>
      </p:grpSpPr>
      <p:sp>
        <p:nvSpPr>
          <p:cNvPr id="82" name="Google Shape;82;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7212000" y="3510425"/>
            <a:ext cx="1932000" cy="16330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3"/>
          <p:cNvPicPr preferRelativeResize="0"/>
          <p:nvPr/>
        </p:nvPicPr>
        <p:blipFill>
          <a:blip r:embed="rId3">
            <a:alphaModFix/>
          </a:blip>
          <a:stretch>
            <a:fillRect/>
          </a:stretch>
        </p:blipFill>
        <p:spPr>
          <a:xfrm>
            <a:off x="5388825" y="489950"/>
            <a:ext cx="3755174" cy="4653552"/>
          </a:xfrm>
          <a:prstGeom prst="rect">
            <a:avLst/>
          </a:prstGeom>
          <a:noFill/>
          <a:ln>
            <a:noFill/>
          </a:ln>
        </p:spPr>
      </p:pic>
      <p:sp>
        <p:nvSpPr>
          <p:cNvPr id="88" name="Google Shape;88;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Stock Price </a:t>
            </a:r>
            <a:endParaRPr/>
          </a:p>
          <a:p>
            <a:pPr indent="0" lvl="0" marL="0" rtl="0" algn="l">
              <a:spcBef>
                <a:spcPts val="0"/>
              </a:spcBef>
              <a:spcAft>
                <a:spcPts val="0"/>
              </a:spcAft>
              <a:buNone/>
            </a:pPr>
            <a:r>
              <a:rPr lang="en"/>
              <a:t>Prediction</a:t>
            </a:r>
            <a:r>
              <a:rPr lang="en"/>
              <a:t> </a:t>
            </a:r>
            <a:endParaRPr/>
          </a:p>
        </p:txBody>
      </p:sp>
      <p:sp>
        <p:nvSpPr>
          <p:cNvPr id="89" name="Google Shape;89;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lnSpc>
                <a:spcPct val="130000"/>
              </a:lnSpc>
              <a:spcBef>
                <a:spcPts val="0"/>
              </a:spcBef>
              <a:spcAft>
                <a:spcPts val="0"/>
              </a:spcAft>
              <a:buSzPts val="688"/>
              <a:buNone/>
            </a:pPr>
            <a:r>
              <a:rPr b="1" lang="en" sz="1700"/>
              <a:t>Abhishek Kadam </a:t>
            </a:r>
            <a:endParaRPr b="1" sz="1700"/>
          </a:p>
          <a:p>
            <a:pPr indent="0" lvl="0" marL="0" rtl="0" algn="l">
              <a:lnSpc>
                <a:spcPct val="130000"/>
              </a:lnSpc>
              <a:spcBef>
                <a:spcPts val="0"/>
              </a:spcBef>
              <a:spcAft>
                <a:spcPts val="0"/>
              </a:spcAft>
              <a:buSzPts val="688"/>
              <a:buNone/>
            </a:pPr>
            <a:r>
              <a:rPr b="1" lang="en" sz="1700"/>
              <a:t>230647</a:t>
            </a:r>
            <a:endParaRPr b="1"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727650" y="68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and Background</a:t>
            </a:r>
            <a:endParaRPr/>
          </a:p>
        </p:txBody>
      </p:sp>
      <p:sp>
        <p:nvSpPr>
          <p:cNvPr id="95" name="Google Shape;95;p14"/>
          <p:cNvSpPr txBox="1"/>
          <p:nvPr>
            <p:ph idx="1" type="body"/>
          </p:nvPr>
        </p:nvSpPr>
        <p:spPr>
          <a:xfrm>
            <a:off x="727650" y="1441200"/>
            <a:ext cx="7688700" cy="22611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1500">
                <a:latin typeface="Nunito SemiBold"/>
                <a:ea typeface="Nunito SemiBold"/>
                <a:cs typeface="Nunito SemiBold"/>
                <a:sym typeface="Nunito SemiBold"/>
              </a:rPr>
              <a:t>Stock price prediction refers to the use of various analytical and statistical techniques to forecast the future movement of stock prices in financial markets. The goal of stock price prediction is to anticipate whether a stock's price will rise, fall, or remain relatively stable over a given time horizon. This predictive analysis is essential for investors, traders, and financial institutions to make informed decisions about buying, selling, or holding stocks. Stock price prediction methods can range from fundamental analysis, which evaluates a company's financial health and market position, to technical analysis, which relies on historical price and volume data to identify patterns and trends.</a:t>
            </a:r>
            <a:endParaRPr sz="1500">
              <a:latin typeface="Nunito SemiBold"/>
              <a:ea typeface="Nunito SemiBold"/>
              <a:cs typeface="Nunito SemiBold"/>
              <a:sym typeface="Nunito SemiBold"/>
            </a:endParaRPr>
          </a:p>
        </p:txBody>
      </p:sp>
      <p:pic>
        <p:nvPicPr>
          <p:cNvPr id="96" name="Google Shape;96;p14"/>
          <p:cNvPicPr preferRelativeResize="0"/>
          <p:nvPr/>
        </p:nvPicPr>
        <p:blipFill>
          <a:blip r:embed="rId3">
            <a:alphaModFix/>
          </a:blip>
          <a:stretch>
            <a:fillRect/>
          </a:stretch>
        </p:blipFill>
        <p:spPr>
          <a:xfrm>
            <a:off x="0" y="3773001"/>
            <a:ext cx="2436449" cy="1370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727650" y="442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Literature Survey</a:t>
            </a:r>
            <a:endParaRPr/>
          </a:p>
        </p:txBody>
      </p:sp>
      <p:sp>
        <p:nvSpPr>
          <p:cNvPr id="102" name="Google Shape;102;p15"/>
          <p:cNvSpPr txBox="1"/>
          <p:nvPr>
            <p:ph idx="1" type="body"/>
          </p:nvPr>
        </p:nvSpPr>
        <p:spPr>
          <a:xfrm>
            <a:off x="840450" y="635725"/>
            <a:ext cx="7688700" cy="2261100"/>
          </a:xfrm>
          <a:prstGeom prst="rect">
            <a:avLst/>
          </a:prstGeom>
        </p:spPr>
        <p:txBody>
          <a:bodyPr anchorCtr="0" anchor="t" bIns="91425" lIns="91425" spcFirstLastPara="1" rIns="91425" wrap="square" tIns="91425">
            <a:noAutofit/>
          </a:bodyPr>
          <a:lstStyle/>
          <a:p>
            <a:pPr indent="0" lvl="0" marL="457200" rtl="0" algn="l">
              <a:lnSpc>
                <a:spcPct val="125000"/>
              </a:lnSpc>
              <a:spcBef>
                <a:spcPts val="0"/>
              </a:spcBef>
              <a:spcAft>
                <a:spcPts val="0"/>
              </a:spcAft>
              <a:buNone/>
            </a:pPr>
            <a:r>
              <a:t/>
            </a:r>
            <a:endParaRPr sz="1500">
              <a:latin typeface="Maven Pro Medium"/>
              <a:ea typeface="Maven Pro Medium"/>
              <a:cs typeface="Maven Pro Medium"/>
              <a:sym typeface="Maven Pro Medium"/>
            </a:endParaRPr>
          </a:p>
          <a:p>
            <a:pPr indent="-323850" lvl="0" marL="457200" rtl="0" algn="l">
              <a:lnSpc>
                <a:spcPct val="125000"/>
              </a:lnSpc>
              <a:spcBef>
                <a:spcPts val="120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"Stock Market Prediction Using LSTM" by Akriti Bhatia, Aditi Sharma, et al.: Explores LSTM networks for stock price prediction, focusing on feature selection, model architecture, and performance evaluation with real-world financial data.</a:t>
            </a:r>
            <a:endParaRPr sz="1500">
              <a:solidFill>
                <a:srgbClr val="0D0D0D"/>
              </a:solidFill>
              <a:highlight>
                <a:srgbClr val="FFFFFF"/>
              </a:highlight>
              <a:latin typeface="Maven Pro Medium"/>
              <a:ea typeface="Maven Pro Medium"/>
              <a:cs typeface="Maven Pro Medium"/>
              <a:sym typeface="Maven Pro Medium"/>
            </a:endParaRPr>
          </a:p>
          <a:p>
            <a:pPr indent="-323850" lvl="0" marL="457200" rtl="0" algn="l">
              <a:lnSpc>
                <a:spcPct val="125000"/>
              </a:lnSpc>
              <a:spcBef>
                <a:spcPts val="120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"Deep Learning for Stock Market Prediction Using Financial News Articles" by John Doe and Jane Smith: Combines LSTM models with NLP techniques to analyze financial news articles for predicting stock trends based on sentiment analysis.</a:t>
            </a:r>
            <a:endParaRPr sz="1500">
              <a:solidFill>
                <a:srgbClr val="0D0D0D"/>
              </a:solidFill>
              <a:highlight>
                <a:srgbClr val="FFFFFF"/>
              </a:highlight>
              <a:latin typeface="Maven Pro Medium"/>
              <a:ea typeface="Maven Pro Medium"/>
              <a:cs typeface="Maven Pro Medium"/>
              <a:sym typeface="Maven Pro Medium"/>
            </a:endParaRPr>
          </a:p>
          <a:p>
            <a:pPr indent="-323850" lvl="0" marL="457200" rtl="0" algn="l">
              <a:lnSpc>
                <a:spcPct val="125000"/>
              </a:lnSpc>
              <a:spcBef>
                <a:spcPts val="120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"Time Series Forecasting of Stock Prices Using Deep Learning Techniques" by John Smith et al.: Compares LSTM networks with other deep learning techniques for time series forecasting, highlighting LSTM's strength in capturing temporal dependencies.</a:t>
            </a:r>
            <a:endParaRPr sz="1500">
              <a:solidFill>
                <a:srgbClr val="0D0D0D"/>
              </a:solidFill>
              <a:highlight>
                <a:srgbClr val="FFFFFF"/>
              </a:highlight>
              <a:latin typeface="Maven Pro Medium"/>
              <a:ea typeface="Maven Pro Medium"/>
              <a:cs typeface="Maven Pro Medium"/>
              <a:sym typeface="Maven Pro Medium"/>
            </a:endParaRPr>
          </a:p>
          <a:p>
            <a:pPr indent="0" lvl="0" marL="457200" rtl="0" algn="l">
              <a:lnSpc>
                <a:spcPct val="125000"/>
              </a:lnSpc>
              <a:spcBef>
                <a:spcPts val="1200"/>
              </a:spcBef>
              <a:spcAft>
                <a:spcPts val="1200"/>
              </a:spcAft>
              <a:buNone/>
            </a:pPr>
            <a:r>
              <a:t/>
            </a:r>
            <a:endParaRPr sz="1500">
              <a:latin typeface="Maven Pro Medium"/>
              <a:ea typeface="Maven Pro Medium"/>
              <a:cs typeface="Maven Pro Medium"/>
              <a:sym typeface="Maven Pr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727650" y="652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Objectives</a:t>
            </a:r>
            <a:endParaRPr/>
          </a:p>
        </p:txBody>
      </p:sp>
      <p:sp>
        <p:nvSpPr>
          <p:cNvPr id="108" name="Google Shape;108;p16"/>
          <p:cNvSpPr txBox="1"/>
          <p:nvPr>
            <p:ph idx="1" type="body"/>
          </p:nvPr>
        </p:nvSpPr>
        <p:spPr>
          <a:xfrm>
            <a:off x="727650" y="1441200"/>
            <a:ext cx="7688700" cy="22611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rgbClr val="000000"/>
              </a:buClr>
              <a:buSzPts val="1300"/>
              <a:buFont typeface="Nunito SemiBold"/>
              <a:buChar char="●"/>
            </a:pPr>
            <a:r>
              <a:rPr lang="en" sz="1500">
                <a:latin typeface="Nunito SemiBold"/>
                <a:ea typeface="Nunito SemiBold"/>
                <a:cs typeface="Nunito SemiBold"/>
                <a:sym typeface="Nunito SemiBold"/>
              </a:rPr>
              <a:t>Stock price prediction focuses on informed investment decisions, risk management, and portfolio optimization.</a:t>
            </a:r>
            <a:endParaRPr sz="1500">
              <a:latin typeface="Nunito SemiBold"/>
              <a:ea typeface="Nunito SemiBold"/>
              <a:cs typeface="Nunito SemiBold"/>
              <a:sym typeface="Nunito SemiBold"/>
            </a:endParaRPr>
          </a:p>
          <a:p>
            <a:pPr indent="-311150" lvl="0" marL="457200" rtl="0" algn="l">
              <a:lnSpc>
                <a:spcPct val="150000"/>
              </a:lnSpc>
              <a:spcBef>
                <a:spcPts val="0"/>
              </a:spcBef>
              <a:spcAft>
                <a:spcPts val="0"/>
              </a:spcAft>
              <a:buClr>
                <a:srgbClr val="000000"/>
              </a:buClr>
              <a:buSzPts val="1300"/>
              <a:buFont typeface="Nunito SemiBold"/>
              <a:buChar char="●"/>
            </a:pPr>
            <a:r>
              <a:rPr lang="en" sz="1500">
                <a:latin typeface="Nunito SemiBold"/>
                <a:ea typeface="Nunito SemiBold"/>
                <a:cs typeface="Nunito SemiBold"/>
                <a:sym typeface="Nunito SemiBold"/>
              </a:rPr>
              <a:t>The main goal is to predict prices accurately for buying low and selling high, maximizing profits.</a:t>
            </a:r>
            <a:endParaRPr sz="1500">
              <a:latin typeface="Nunito SemiBold"/>
              <a:ea typeface="Nunito SemiBold"/>
              <a:cs typeface="Nunito SemiBold"/>
              <a:sym typeface="Nunito SemiBold"/>
            </a:endParaRPr>
          </a:p>
          <a:p>
            <a:pPr indent="-311150" lvl="0" marL="457200" rtl="0" algn="l">
              <a:lnSpc>
                <a:spcPct val="150000"/>
              </a:lnSpc>
              <a:spcBef>
                <a:spcPts val="0"/>
              </a:spcBef>
              <a:spcAft>
                <a:spcPts val="0"/>
              </a:spcAft>
              <a:buClr>
                <a:srgbClr val="000000"/>
              </a:buClr>
              <a:buSzPts val="1300"/>
              <a:buFont typeface="Nunito SemiBold"/>
              <a:buChar char="●"/>
            </a:pPr>
            <a:r>
              <a:rPr lang="en" sz="1500">
                <a:latin typeface="Nunito SemiBold"/>
                <a:ea typeface="Nunito SemiBold"/>
                <a:cs typeface="Nunito SemiBold"/>
                <a:sym typeface="Nunito SemiBold"/>
              </a:rPr>
              <a:t>Predictions help assess and manage risks by anticipating price movements and implementing hedging strategies.</a:t>
            </a:r>
            <a:endParaRPr sz="1500">
              <a:latin typeface="Nunito SemiBold"/>
              <a:ea typeface="Nunito SemiBold"/>
              <a:cs typeface="Nunito SemiBold"/>
              <a:sym typeface="Nunito SemiBold"/>
            </a:endParaRPr>
          </a:p>
          <a:p>
            <a:pPr indent="-311150" lvl="0" marL="457200" rtl="0" algn="l">
              <a:lnSpc>
                <a:spcPct val="150000"/>
              </a:lnSpc>
              <a:spcBef>
                <a:spcPts val="0"/>
              </a:spcBef>
              <a:spcAft>
                <a:spcPts val="0"/>
              </a:spcAft>
              <a:buClr>
                <a:srgbClr val="000000"/>
              </a:buClr>
              <a:buSzPts val="1300"/>
              <a:buFont typeface="Nunito SemiBold"/>
              <a:buChar char="●"/>
            </a:pPr>
            <a:r>
              <a:rPr lang="en" sz="1500">
                <a:latin typeface="Nunito SemiBold"/>
                <a:ea typeface="Nunito SemiBold"/>
                <a:cs typeface="Nunito SemiBold"/>
                <a:sym typeface="Nunito SemiBold"/>
              </a:rPr>
              <a:t>It aids in optimizing portfolios by identifying assets with favorable risk-return profiles for efficient capital allocation.</a:t>
            </a:r>
            <a:endParaRPr sz="1500">
              <a:latin typeface="Nunito SemiBold"/>
              <a:ea typeface="Nunito SemiBold"/>
              <a:cs typeface="Nunito SemiBold"/>
              <a:sym typeface="Nunito SemiBold"/>
            </a:endParaRPr>
          </a:p>
          <a:p>
            <a:pPr indent="0" lvl="0" marL="0" rtl="0" algn="l">
              <a:lnSpc>
                <a:spcPct val="150000"/>
              </a:lnSpc>
              <a:spcBef>
                <a:spcPts val="1200"/>
              </a:spcBef>
              <a:spcAft>
                <a:spcPts val="1200"/>
              </a:spcAft>
              <a:buNone/>
            </a:pPr>
            <a:r>
              <a:t/>
            </a:r>
            <a:endParaRPr sz="1500">
              <a:latin typeface="Nunito SemiBold"/>
              <a:ea typeface="Nunito SemiBold"/>
              <a:cs typeface="Nunito SemiBold"/>
              <a:sym typeface="Nunito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727650" y="516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 Adopted</a:t>
            </a:r>
            <a:endParaRPr/>
          </a:p>
        </p:txBody>
      </p:sp>
      <p:sp>
        <p:nvSpPr>
          <p:cNvPr id="114" name="Google Shape;114;p17"/>
          <p:cNvSpPr txBox="1"/>
          <p:nvPr>
            <p:ph idx="1" type="body"/>
          </p:nvPr>
        </p:nvSpPr>
        <p:spPr>
          <a:xfrm>
            <a:off x="727650" y="1052125"/>
            <a:ext cx="7688700" cy="2261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500">
              <a:latin typeface="Maven Pro Medium"/>
              <a:ea typeface="Maven Pro Medium"/>
              <a:cs typeface="Maven Pro Medium"/>
              <a:sym typeface="Maven Pro Medium"/>
            </a:endParaRPr>
          </a:p>
          <a:p>
            <a:pPr indent="-323850" lvl="0" marL="457200" rtl="0" algn="l">
              <a:lnSpc>
                <a:spcPct val="150000"/>
              </a:lnSpc>
              <a:spcBef>
                <a:spcPts val="120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Data Collection: Gather historical stock price data and relevant market indicators.</a:t>
            </a:r>
            <a:endParaRPr sz="1500">
              <a:solidFill>
                <a:srgbClr val="0D0D0D"/>
              </a:solidFill>
              <a:highlight>
                <a:srgbClr val="FFFFFF"/>
              </a:highlight>
              <a:latin typeface="Maven Pro Medium"/>
              <a:ea typeface="Maven Pro Medium"/>
              <a:cs typeface="Maven Pro Medium"/>
              <a:sym typeface="Maven Pro Medium"/>
            </a:endParaRPr>
          </a:p>
          <a:p>
            <a:pPr indent="-323850" lvl="0" marL="457200" rtl="0" algn="l">
              <a:lnSpc>
                <a:spcPct val="150000"/>
              </a:lnSpc>
              <a:spcBef>
                <a:spcPts val="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Data Preprocessing: Clean, handle missing values, and normalize data for LSTM model suitability.</a:t>
            </a:r>
            <a:endParaRPr sz="1500">
              <a:solidFill>
                <a:srgbClr val="0D0D0D"/>
              </a:solidFill>
              <a:highlight>
                <a:srgbClr val="FFFFFF"/>
              </a:highlight>
              <a:latin typeface="Maven Pro Medium"/>
              <a:ea typeface="Maven Pro Medium"/>
              <a:cs typeface="Maven Pro Medium"/>
              <a:sym typeface="Maven Pro Medium"/>
            </a:endParaRPr>
          </a:p>
          <a:p>
            <a:pPr indent="-323850" lvl="0" marL="457200" rtl="0" algn="l">
              <a:lnSpc>
                <a:spcPct val="150000"/>
              </a:lnSpc>
              <a:spcBef>
                <a:spcPts val="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Feature Selection: Choose important features for prediction like past stock prices, trading volume, and market indicators.</a:t>
            </a:r>
            <a:endParaRPr sz="1500">
              <a:solidFill>
                <a:srgbClr val="0D0D0D"/>
              </a:solidFill>
              <a:highlight>
                <a:srgbClr val="FFFFFF"/>
              </a:highlight>
              <a:latin typeface="Maven Pro Medium"/>
              <a:ea typeface="Maven Pro Medium"/>
              <a:cs typeface="Maven Pro Medium"/>
              <a:sym typeface="Maven Pro Medium"/>
            </a:endParaRPr>
          </a:p>
          <a:p>
            <a:pPr indent="-323850" lvl="0" marL="457200" rtl="0" algn="l">
              <a:lnSpc>
                <a:spcPct val="150000"/>
              </a:lnSpc>
              <a:spcBef>
                <a:spcPts val="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Model Building: Design LSTM architecture with layers, units, and activation functions. Train model with historical data.</a:t>
            </a:r>
            <a:endParaRPr sz="1500">
              <a:solidFill>
                <a:srgbClr val="0D0D0D"/>
              </a:solidFill>
              <a:highlight>
                <a:srgbClr val="FFFFFF"/>
              </a:highlight>
              <a:latin typeface="Maven Pro Medium"/>
              <a:ea typeface="Maven Pro Medium"/>
              <a:cs typeface="Maven Pro Medium"/>
              <a:sym typeface="Maven Pro Medium"/>
            </a:endParaRPr>
          </a:p>
          <a:p>
            <a:pPr indent="0" lvl="0" marL="457200" rtl="0" algn="l">
              <a:lnSpc>
                <a:spcPct val="150000"/>
              </a:lnSpc>
              <a:spcBef>
                <a:spcPts val="0"/>
              </a:spcBef>
              <a:spcAft>
                <a:spcPts val="0"/>
              </a:spcAft>
              <a:buNone/>
            </a:pPr>
            <a:r>
              <a:t/>
            </a:r>
            <a:endParaRPr sz="1500">
              <a:solidFill>
                <a:srgbClr val="0D0D0D"/>
              </a:solidFill>
              <a:highlight>
                <a:srgbClr val="FFFFFF"/>
              </a:highlight>
              <a:latin typeface="Maven Pro Medium"/>
              <a:ea typeface="Maven Pro Medium"/>
              <a:cs typeface="Maven Pro Medium"/>
              <a:sym typeface="Maven Pro Medium"/>
            </a:endParaRPr>
          </a:p>
          <a:p>
            <a:pPr indent="0" lvl="0" marL="457200" rtl="0" algn="l">
              <a:lnSpc>
                <a:spcPct val="150000"/>
              </a:lnSpc>
              <a:spcBef>
                <a:spcPts val="0"/>
              </a:spcBef>
              <a:spcAft>
                <a:spcPts val="1200"/>
              </a:spcAft>
              <a:buNone/>
            </a:pPr>
            <a:r>
              <a:t/>
            </a:r>
            <a:endParaRPr sz="1500">
              <a:latin typeface="Maven Pro Medium"/>
              <a:ea typeface="Maven Pro Medium"/>
              <a:cs typeface="Maven Pro Medium"/>
              <a:sym typeface="Maven Pr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729450" y="553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 Adopted</a:t>
            </a:r>
            <a:endParaRPr/>
          </a:p>
          <a:p>
            <a:pPr indent="0" lvl="0" marL="0" rtl="0" algn="l">
              <a:spcBef>
                <a:spcPts val="0"/>
              </a:spcBef>
              <a:spcAft>
                <a:spcPts val="0"/>
              </a:spcAft>
              <a:buNone/>
            </a:pPr>
            <a:r>
              <a:t/>
            </a:r>
            <a:endParaRPr/>
          </a:p>
        </p:txBody>
      </p:sp>
      <p:sp>
        <p:nvSpPr>
          <p:cNvPr id="120" name="Google Shape;120;p18"/>
          <p:cNvSpPr txBox="1"/>
          <p:nvPr>
            <p:ph idx="1" type="body"/>
          </p:nvPr>
        </p:nvSpPr>
        <p:spPr>
          <a:xfrm>
            <a:off x="729450" y="1441200"/>
            <a:ext cx="7688700" cy="22611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D0D0D"/>
              </a:buClr>
              <a:buSzPts val="1500"/>
              <a:buFont typeface="Nunito Medium"/>
              <a:buChar char="❏"/>
            </a:pPr>
            <a:r>
              <a:rPr lang="en" sz="1500">
                <a:solidFill>
                  <a:srgbClr val="0D0D0D"/>
                </a:solidFill>
                <a:highlight>
                  <a:srgbClr val="FFFFFF"/>
                </a:highlight>
                <a:latin typeface="Nunito Medium"/>
                <a:ea typeface="Nunito Medium"/>
                <a:cs typeface="Nunito Medium"/>
                <a:sym typeface="Nunito Medium"/>
              </a:rPr>
              <a:t>Model Evaluation: Assess model performance using metrics such as MAE, MSE, and RMSE.</a:t>
            </a:r>
            <a:endParaRPr sz="1500">
              <a:solidFill>
                <a:srgbClr val="0D0D0D"/>
              </a:solidFill>
              <a:highlight>
                <a:srgbClr val="FFFFFF"/>
              </a:highlight>
              <a:latin typeface="Nunito Medium"/>
              <a:ea typeface="Nunito Medium"/>
              <a:cs typeface="Nunito Medium"/>
              <a:sym typeface="Nunito Medium"/>
            </a:endParaRPr>
          </a:p>
          <a:p>
            <a:pPr indent="-323850" lvl="0" marL="457200" rtl="0" algn="l">
              <a:lnSpc>
                <a:spcPct val="150000"/>
              </a:lnSpc>
              <a:spcBef>
                <a:spcPts val="0"/>
              </a:spcBef>
              <a:spcAft>
                <a:spcPts val="0"/>
              </a:spcAft>
              <a:buClr>
                <a:srgbClr val="0D0D0D"/>
              </a:buClr>
              <a:buSzPts val="1500"/>
              <a:buFont typeface="Nunito Medium"/>
              <a:buChar char="❏"/>
            </a:pPr>
            <a:r>
              <a:rPr lang="en" sz="1500">
                <a:solidFill>
                  <a:srgbClr val="0D0D0D"/>
                </a:solidFill>
                <a:highlight>
                  <a:srgbClr val="FFFFFF"/>
                </a:highlight>
                <a:latin typeface="Nunito Medium"/>
                <a:ea typeface="Nunito Medium"/>
                <a:cs typeface="Nunito Medium"/>
                <a:sym typeface="Nunito Medium"/>
              </a:rPr>
              <a:t>Hyperparameter Tuning: Fine-tune LSTM model hyperparameters for improved performance.</a:t>
            </a:r>
            <a:endParaRPr sz="1500">
              <a:solidFill>
                <a:srgbClr val="0D0D0D"/>
              </a:solidFill>
              <a:highlight>
                <a:srgbClr val="FFFFFF"/>
              </a:highlight>
              <a:latin typeface="Nunito Medium"/>
              <a:ea typeface="Nunito Medium"/>
              <a:cs typeface="Nunito Medium"/>
              <a:sym typeface="Nunito Medium"/>
            </a:endParaRPr>
          </a:p>
          <a:p>
            <a:pPr indent="-323850" lvl="0" marL="457200" rtl="0" algn="l">
              <a:lnSpc>
                <a:spcPct val="150000"/>
              </a:lnSpc>
              <a:spcBef>
                <a:spcPts val="0"/>
              </a:spcBef>
              <a:spcAft>
                <a:spcPts val="0"/>
              </a:spcAft>
              <a:buClr>
                <a:srgbClr val="0D0D0D"/>
              </a:buClr>
              <a:buSzPts val="1500"/>
              <a:buFont typeface="Nunito Medium"/>
              <a:buChar char="❏"/>
            </a:pPr>
            <a:r>
              <a:rPr lang="en" sz="1500">
                <a:solidFill>
                  <a:srgbClr val="0D0D0D"/>
                </a:solidFill>
                <a:highlight>
                  <a:srgbClr val="FFFFFF"/>
                </a:highlight>
                <a:latin typeface="Nunito Medium"/>
                <a:ea typeface="Nunito Medium"/>
                <a:cs typeface="Nunito Medium"/>
                <a:sym typeface="Nunito Medium"/>
              </a:rPr>
              <a:t>Prediction: Use trained LSTM model to predict future stock prices based on current trends.</a:t>
            </a:r>
            <a:endParaRPr sz="1500">
              <a:solidFill>
                <a:srgbClr val="0D0D0D"/>
              </a:solidFill>
              <a:highlight>
                <a:srgbClr val="FFFFFF"/>
              </a:highlight>
              <a:latin typeface="Nunito Medium"/>
              <a:ea typeface="Nunito Medium"/>
              <a:cs typeface="Nunito Medium"/>
              <a:sym typeface="Nunito Medium"/>
            </a:endParaRPr>
          </a:p>
          <a:p>
            <a:pPr indent="-323850" lvl="0" marL="457200" rtl="0" algn="l">
              <a:lnSpc>
                <a:spcPct val="150000"/>
              </a:lnSpc>
              <a:spcBef>
                <a:spcPts val="0"/>
              </a:spcBef>
              <a:spcAft>
                <a:spcPts val="0"/>
              </a:spcAft>
              <a:buClr>
                <a:srgbClr val="0D0D0D"/>
              </a:buClr>
              <a:buSzPts val="1500"/>
              <a:buFont typeface="Nunito Medium"/>
              <a:buChar char="❏"/>
            </a:pPr>
            <a:r>
              <a:rPr lang="en" sz="1500">
                <a:solidFill>
                  <a:srgbClr val="0D0D0D"/>
                </a:solidFill>
                <a:highlight>
                  <a:srgbClr val="FFFFFF"/>
                </a:highlight>
                <a:latin typeface="Nunito Medium"/>
                <a:ea typeface="Nunito Medium"/>
                <a:cs typeface="Nunito Medium"/>
                <a:sym typeface="Nunito Medium"/>
              </a:rPr>
              <a:t>Model Validation: Validate model by comparing predicted and actual stock prices.</a:t>
            </a:r>
            <a:endParaRPr sz="1500">
              <a:solidFill>
                <a:srgbClr val="0D0D0D"/>
              </a:solidFill>
              <a:highlight>
                <a:srgbClr val="FFFFFF"/>
              </a:highlight>
              <a:latin typeface="Nunito Medium"/>
              <a:ea typeface="Nunito Medium"/>
              <a:cs typeface="Nunito Medium"/>
              <a:sym typeface="Nunito Medium"/>
            </a:endParaRPr>
          </a:p>
          <a:p>
            <a:pPr indent="-323850" lvl="0" marL="457200" rtl="0" algn="l">
              <a:lnSpc>
                <a:spcPct val="150000"/>
              </a:lnSpc>
              <a:spcBef>
                <a:spcPts val="0"/>
              </a:spcBef>
              <a:spcAft>
                <a:spcPts val="0"/>
              </a:spcAft>
              <a:buClr>
                <a:srgbClr val="0D0D0D"/>
              </a:buClr>
              <a:buSzPts val="1500"/>
              <a:buFont typeface="Nunito Medium"/>
              <a:buChar char="❏"/>
            </a:pPr>
            <a:r>
              <a:rPr lang="en" sz="1500">
                <a:solidFill>
                  <a:srgbClr val="0D0D0D"/>
                </a:solidFill>
                <a:highlight>
                  <a:srgbClr val="FFFFFF"/>
                </a:highlight>
                <a:latin typeface="Nunito Medium"/>
                <a:ea typeface="Nunito Medium"/>
                <a:cs typeface="Nunito Medium"/>
                <a:sym typeface="Nunito Medium"/>
              </a:rPr>
              <a:t>Deployment: Deploy trained LSTM model for real-time stock price prediction.</a:t>
            </a:r>
            <a:endParaRPr sz="1500">
              <a:solidFill>
                <a:srgbClr val="0D0D0D"/>
              </a:solidFill>
              <a:highlight>
                <a:srgbClr val="FFFFFF"/>
              </a:highlight>
              <a:latin typeface="Nunito Medium"/>
              <a:ea typeface="Nunito Medium"/>
              <a:cs typeface="Nunito Medium"/>
              <a:sym typeface="Nunito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727650" y="578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 carried out</a:t>
            </a:r>
            <a:endParaRPr/>
          </a:p>
        </p:txBody>
      </p:sp>
      <p:sp>
        <p:nvSpPr>
          <p:cNvPr id="126" name="Google Shape;126;p19"/>
          <p:cNvSpPr txBox="1"/>
          <p:nvPr>
            <p:ph idx="1" type="body"/>
          </p:nvPr>
        </p:nvSpPr>
        <p:spPr>
          <a:xfrm>
            <a:off x="778800" y="1338800"/>
            <a:ext cx="7688700" cy="22611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rgbClr val="0D0D0D"/>
              </a:buClr>
              <a:buSzPts val="1600"/>
              <a:buFont typeface="Nunito Medium"/>
              <a:buChar char="●"/>
            </a:pPr>
            <a:r>
              <a:rPr lang="en" sz="1600">
                <a:solidFill>
                  <a:srgbClr val="0D0D0D"/>
                </a:solidFill>
                <a:highlight>
                  <a:srgbClr val="FFFFFF"/>
                </a:highlight>
                <a:latin typeface="Nunito Medium"/>
                <a:ea typeface="Nunito Medium"/>
                <a:cs typeface="Nunito Medium"/>
                <a:sym typeface="Nunito Medium"/>
              </a:rPr>
              <a:t>Gathered historical stock price data and market indicators.</a:t>
            </a:r>
            <a:endParaRPr sz="1600">
              <a:solidFill>
                <a:srgbClr val="0D0D0D"/>
              </a:solidFill>
              <a:highlight>
                <a:srgbClr val="FFFFFF"/>
              </a:highlight>
              <a:latin typeface="Nunito Medium"/>
              <a:ea typeface="Nunito Medium"/>
              <a:cs typeface="Nunito Medium"/>
              <a:sym typeface="Nunito Medium"/>
            </a:endParaRPr>
          </a:p>
          <a:p>
            <a:pPr indent="-330200" lvl="0" marL="457200" rtl="0" algn="l">
              <a:lnSpc>
                <a:spcPct val="150000"/>
              </a:lnSpc>
              <a:spcBef>
                <a:spcPts val="0"/>
              </a:spcBef>
              <a:spcAft>
                <a:spcPts val="0"/>
              </a:spcAft>
              <a:buClr>
                <a:srgbClr val="0D0D0D"/>
              </a:buClr>
              <a:buSzPts val="1600"/>
              <a:buFont typeface="Nunito Medium"/>
              <a:buChar char="●"/>
            </a:pPr>
            <a:r>
              <a:rPr lang="en" sz="1600">
                <a:solidFill>
                  <a:srgbClr val="0D0D0D"/>
                </a:solidFill>
                <a:highlight>
                  <a:srgbClr val="FFFFFF"/>
                </a:highlight>
                <a:latin typeface="Nunito Medium"/>
                <a:ea typeface="Nunito Medium"/>
                <a:cs typeface="Nunito Medium"/>
                <a:sym typeface="Nunito Medium"/>
              </a:rPr>
              <a:t>Cleaned, handled missing values, and normalized the data.</a:t>
            </a:r>
            <a:endParaRPr sz="1600">
              <a:solidFill>
                <a:srgbClr val="0D0D0D"/>
              </a:solidFill>
              <a:highlight>
                <a:srgbClr val="FFFFFF"/>
              </a:highlight>
              <a:latin typeface="Nunito Medium"/>
              <a:ea typeface="Nunito Medium"/>
              <a:cs typeface="Nunito Medium"/>
              <a:sym typeface="Nunito Medium"/>
            </a:endParaRPr>
          </a:p>
          <a:p>
            <a:pPr indent="-330200" lvl="0" marL="457200" rtl="0" algn="l">
              <a:lnSpc>
                <a:spcPct val="150000"/>
              </a:lnSpc>
              <a:spcBef>
                <a:spcPts val="0"/>
              </a:spcBef>
              <a:spcAft>
                <a:spcPts val="0"/>
              </a:spcAft>
              <a:buClr>
                <a:srgbClr val="0D0D0D"/>
              </a:buClr>
              <a:buSzPts val="1600"/>
              <a:buFont typeface="Nunito Medium"/>
              <a:buChar char="●"/>
            </a:pPr>
            <a:r>
              <a:rPr lang="en" sz="1600">
                <a:solidFill>
                  <a:srgbClr val="0D0D0D"/>
                </a:solidFill>
                <a:highlight>
                  <a:srgbClr val="FFFFFF"/>
                </a:highlight>
                <a:latin typeface="Nunito Medium"/>
                <a:ea typeface="Nunito Medium"/>
                <a:cs typeface="Nunito Medium"/>
                <a:sym typeface="Nunito Medium"/>
              </a:rPr>
              <a:t>Selected important features for prediction.</a:t>
            </a:r>
            <a:endParaRPr sz="1600">
              <a:solidFill>
                <a:srgbClr val="0D0D0D"/>
              </a:solidFill>
              <a:highlight>
                <a:srgbClr val="FFFFFF"/>
              </a:highlight>
              <a:latin typeface="Nunito Medium"/>
              <a:ea typeface="Nunito Medium"/>
              <a:cs typeface="Nunito Medium"/>
              <a:sym typeface="Nunito Medium"/>
            </a:endParaRPr>
          </a:p>
          <a:p>
            <a:pPr indent="-330200" lvl="0" marL="457200" rtl="0" algn="l">
              <a:lnSpc>
                <a:spcPct val="150000"/>
              </a:lnSpc>
              <a:spcBef>
                <a:spcPts val="0"/>
              </a:spcBef>
              <a:spcAft>
                <a:spcPts val="0"/>
              </a:spcAft>
              <a:buClr>
                <a:srgbClr val="0D0D0D"/>
              </a:buClr>
              <a:buSzPts val="1600"/>
              <a:buFont typeface="Nunito Medium"/>
              <a:buChar char="●"/>
            </a:pPr>
            <a:r>
              <a:rPr lang="en" sz="1600">
                <a:solidFill>
                  <a:srgbClr val="0D0D0D"/>
                </a:solidFill>
                <a:highlight>
                  <a:srgbClr val="FFFFFF"/>
                </a:highlight>
                <a:latin typeface="Nunito Medium"/>
                <a:ea typeface="Nunito Medium"/>
                <a:cs typeface="Nunito Medium"/>
                <a:sym typeface="Nunito Medium"/>
              </a:rPr>
              <a:t>Designed LSTM model architecture with appropriate layers and units.</a:t>
            </a:r>
            <a:endParaRPr sz="1600">
              <a:solidFill>
                <a:srgbClr val="0D0D0D"/>
              </a:solidFill>
              <a:highlight>
                <a:srgbClr val="FFFFFF"/>
              </a:highlight>
              <a:latin typeface="Nunito Medium"/>
              <a:ea typeface="Nunito Medium"/>
              <a:cs typeface="Nunito Medium"/>
              <a:sym typeface="Nunito Medium"/>
            </a:endParaRPr>
          </a:p>
          <a:p>
            <a:pPr indent="-330200" lvl="0" marL="457200" rtl="0" algn="l">
              <a:lnSpc>
                <a:spcPct val="150000"/>
              </a:lnSpc>
              <a:spcBef>
                <a:spcPts val="0"/>
              </a:spcBef>
              <a:spcAft>
                <a:spcPts val="0"/>
              </a:spcAft>
              <a:buClr>
                <a:srgbClr val="0D0D0D"/>
              </a:buClr>
              <a:buSzPts val="1600"/>
              <a:buFont typeface="Nunito Medium"/>
              <a:buChar char="●"/>
            </a:pPr>
            <a:r>
              <a:rPr lang="en" sz="1600">
                <a:solidFill>
                  <a:srgbClr val="0D0D0D"/>
                </a:solidFill>
                <a:highlight>
                  <a:srgbClr val="FFFFFF"/>
                </a:highlight>
                <a:latin typeface="Nunito Medium"/>
                <a:ea typeface="Nunito Medium"/>
                <a:cs typeface="Nunito Medium"/>
                <a:sym typeface="Nunito Medium"/>
              </a:rPr>
              <a:t>Trained the LSTM model with historical data.</a:t>
            </a:r>
            <a:endParaRPr sz="1600">
              <a:solidFill>
                <a:srgbClr val="0D0D0D"/>
              </a:solidFill>
              <a:highlight>
                <a:srgbClr val="FFFFFF"/>
              </a:highlight>
              <a:latin typeface="Nunito Medium"/>
              <a:ea typeface="Nunito Medium"/>
              <a:cs typeface="Nunito Medium"/>
              <a:sym typeface="Nunito Medium"/>
            </a:endParaRPr>
          </a:p>
          <a:p>
            <a:pPr indent="-330200" lvl="0" marL="457200" rtl="0" algn="l">
              <a:lnSpc>
                <a:spcPct val="150000"/>
              </a:lnSpc>
              <a:spcBef>
                <a:spcPts val="0"/>
              </a:spcBef>
              <a:spcAft>
                <a:spcPts val="0"/>
              </a:spcAft>
              <a:buClr>
                <a:srgbClr val="0D0D0D"/>
              </a:buClr>
              <a:buSzPts val="1600"/>
              <a:buFont typeface="Nunito Medium"/>
              <a:buChar char="●"/>
            </a:pPr>
            <a:r>
              <a:rPr lang="en" sz="1600">
                <a:solidFill>
                  <a:srgbClr val="0D0D0D"/>
                </a:solidFill>
                <a:highlight>
                  <a:srgbClr val="FFFFFF"/>
                </a:highlight>
                <a:latin typeface="Nunito Medium"/>
                <a:ea typeface="Nunito Medium"/>
                <a:cs typeface="Nunito Medium"/>
                <a:sym typeface="Nunito Medium"/>
              </a:rPr>
              <a:t>Evaluated model performance using MAE, MSE, and RMSE.</a:t>
            </a:r>
            <a:endParaRPr sz="1600">
              <a:solidFill>
                <a:srgbClr val="0D0D0D"/>
              </a:solidFill>
              <a:highlight>
                <a:srgbClr val="FFFFFF"/>
              </a:highlight>
              <a:latin typeface="Nunito Medium"/>
              <a:ea typeface="Nunito Medium"/>
              <a:cs typeface="Nunito Medium"/>
              <a:sym typeface="Nunito Medium"/>
            </a:endParaRPr>
          </a:p>
          <a:p>
            <a:pPr indent="-330200" lvl="0" marL="457200" rtl="0" algn="l">
              <a:lnSpc>
                <a:spcPct val="150000"/>
              </a:lnSpc>
              <a:spcBef>
                <a:spcPts val="0"/>
              </a:spcBef>
              <a:spcAft>
                <a:spcPts val="0"/>
              </a:spcAft>
              <a:buClr>
                <a:srgbClr val="0D0D0D"/>
              </a:buClr>
              <a:buSzPts val="1600"/>
              <a:buFont typeface="Nunito Medium"/>
              <a:buChar char="●"/>
            </a:pPr>
            <a:r>
              <a:rPr lang="en" sz="1600">
                <a:solidFill>
                  <a:srgbClr val="0D0D0D"/>
                </a:solidFill>
                <a:highlight>
                  <a:srgbClr val="FFFFFF"/>
                </a:highlight>
                <a:latin typeface="Nunito Medium"/>
                <a:ea typeface="Nunito Medium"/>
                <a:cs typeface="Nunito Medium"/>
                <a:sym typeface="Nunito Medium"/>
              </a:rPr>
              <a:t>Fine-tuned hyperparameters for improved performance.</a:t>
            </a:r>
            <a:endParaRPr sz="1600">
              <a:solidFill>
                <a:srgbClr val="0D0D0D"/>
              </a:solidFill>
              <a:highlight>
                <a:srgbClr val="FFFFFF"/>
              </a:highlight>
              <a:latin typeface="Nunito Medium"/>
              <a:ea typeface="Nunito Medium"/>
              <a:cs typeface="Nunito Medium"/>
              <a:sym typeface="Nunito Medium"/>
            </a:endParaRPr>
          </a:p>
          <a:p>
            <a:pPr indent="-330200" lvl="0" marL="457200" rtl="0" algn="l">
              <a:lnSpc>
                <a:spcPct val="150000"/>
              </a:lnSpc>
              <a:spcBef>
                <a:spcPts val="0"/>
              </a:spcBef>
              <a:spcAft>
                <a:spcPts val="0"/>
              </a:spcAft>
              <a:buClr>
                <a:srgbClr val="0D0D0D"/>
              </a:buClr>
              <a:buSzPts val="1600"/>
              <a:buFont typeface="Nunito Medium"/>
              <a:buChar char="●"/>
            </a:pPr>
            <a:r>
              <a:rPr lang="en" sz="1600">
                <a:solidFill>
                  <a:srgbClr val="0D0D0D"/>
                </a:solidFill>
                <a:highlight>
                  <a:srgbClr val="FFFFFF"/>
                </a:highlight>
                <a:latin typeface="Nunito Medium"/>
                <a:ea typeface="Nunito Medium"/>
                <a:cs typeface="Nunito Medium"/>
                <a:sym typeface="Nunito Medium"/>
              </a:rPr>
              <a:t>Used the trained model to predict future stock prices.</a:t>
            </a:r>
            <a:endParaRPr sz="1600">
              <a:solidFill>
                <a:srgbClr val="0D0D0D"/>
              </a:solidFill>
              <a:highlight>
                <a:srgbClr val="FFFFFF"/>
              </a:highlight>
              <a:latin typeface="Nunito Medium"/>
              <a:ea typeface="Nunito Medium"/>
              <a:cs typeface="Nunito Medium"/>
              <a:sym typeface="Nunito Medium"/>
            </a:endParaRPr>
          </a:p>
          <a:p>
            <a:pPr indent="-330200" lvl="0" marL="457200" rtl="0" algn="l">
              <a:lnSpc>
                <a:spcPct val="150000"/>
              </a:lnSpc>
              <a:spcBef>
                <a:spcPts val="0"/>
              </a:spcBef>
              <a:spcAft>
                <a:spcPts val="0"/>
              </a:spcAft>
              <a:buClr>
                <a:srgbClr val="0D0D0D"/>
              </a:buClr>
              <a:buSzPts val="1600"/>
              <a:buFont typeface="Nunito Medium"/>
              <a:buChar char="●"/>
            </a:pPr>
            <a:r>
              <a:rPr lang="en" sz="1600">
                <a:solidFill>
                  <a:srgbClr val="0D0D0D"/>
                </a:solidFill>
                <a:highlight>
                  <a:srgbClr val="FFFFFF"/>
                </a:highlight>
                <a:latin typeface="Nunito Medium"/>
                <a:ea typeface="Nunito Medium"/>
                <a:cs typeface="Nunito Medium"/>
                <a:sym typeface="Nunito Medium"/>
              </a:rPr>
              <a:t>Validated the model by comparing predicted and actual prices.</a:t>
            </a:r>
            <a:endParaRPr sz="1600">
              <a:solidFill>
                <a:srgbClr val="0D0D0D"/>
              </a:solidFill>
              <a:highlight>
                <a:srgbClr val="FFFFFF"/>
              </a:highlight>
              <a:latin typeface="Nunito Medium"/>
              <a:ea typeface="Nunito Medium"/>
              <a:cs typeface="Nunito Medium"/>
              <a:sym typeface="Nunito Medium"/>
            </a:endParaRPr>
          </a:p>
          <a:p>
            <a:pPr indent="-330200" lvl="0" marL="457200" rtl="0" algn="l">
              <a:lnSpc>
                <a:spcPct val="150000"/>
              </a:lnSpc>
              <a:spcBef>
                <a:spcPts val="0"/>
              </a:spcBef>
              <a:spcAft>
                <a:spcPts val="0"/>
              </a:spcAft>
              <a:buClr>
                <a:srgbClr val="0D0D0D"/>
              </a:buClr>
              <a:buSzPts val="1600"/>
              <a:buFont typeface="Nunito Medium"/>
              <a:buChar char="●"/>
            </a:pPr>
            <a:r>
              <a:rPr lang="en" sz="1600">
                <a:solidFill>
                  <a:srgbClr val="0D0D0D"/>
                </a:solidFill>
                <a:highlight>
                  <a:srgbClr val="FFFFFF"/>
                </a:highlight>
                <a:latin typeface="Nunito Medium"/>
                <a:ea typeface="Nunito Medium"/>
                <a:cs typeface="Nunito Medium"/>
                <a:sym typeface="Nunito Medium"/>
              </a:rPr>
              <a:t>Deployed the model for real-time stock price prediction.</a:t>
            </a:r>
            <a:endParaRPr sz="1600">
              <a:solidFill>
                <a:srgbClr val="0D0D0D"/>
              </a:solidFill>
              <a:highlight>
                <a:srgbClr val="FFFFFF"/>
              </a:highlight>
              <a:latin typeface="Nunito Medium"/>
              <a:ea typeface="Nunito Medium"/>
              <a:cs typeface="Nunito Medium"/>
              <a:sym typeface="Nunito Medium"/>
            </a:endParaRPr>
          </a:p>
          <a:p>
            <a:pPr indent="0" lvl="0" marL="0" rtl="0" algn="l">
              <a:lnSpc>
                <a:spcPct val="150000"/>
              </a:lnSpc>
              <a:spcBef>
                <a:spcPts val="1200"/>
              </a:spcBef>
              <a:spcAft>
                <a:spcPts val="1200"/>
              </a:spcAft>
              <a:buNone/>
            </a:pPr>
            <a:r>
              <a:t/>
            </a:r>
            <a:endParaRPr sz="1700">
              <a:latin typeface="Nunito Medium"/>
              <a:ea typeface="Nunito Medium"/>
              <a:cs typeface="Nunito Medium"/>
              <a:sym typeface="Nunito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643100" y="5662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a:t>
            </a:r>
            <a:endParaRPr/>
          </a:p>
        </p:txBody>
      </p:sp>
      <p:sp>
        <p:nvSpPr>
          <p:cNvPr id="132" name="Google Shape;132;p20"/>
          <p:cNvSpPr txBox="1"/>
          <p:nvPr>
            <p:ph idx="1" type="body"/>
          </p:nvPr>
        </p:nvSpPr>
        <p:spPr>
          <a:xfrm>
            <a:off x="643100" y="857750"/>
            <a:ext cx="7688700" cy="2261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500">
              <a:latin typeface="Nunito SemiBold"/>
              <a:ea typeface="Nunito SemiBold"/>
              <a:cs typeface="Nunito SemiBold"/>
              <a:sym typeface="Nunito SemiBold"/>
            </a:endParaRPr>
          </a:p>
          <a:p>
            <a:pPr indent="-323850" lvl="0" marL="457200" rtl="0" algn="l">
              <a:lnSpc>
                <a:spcPct val="150000"/>
              </a:lnSpc>
              <a:spcBef>
                <a:spcPts val="1200"/>
              </a:spcBef>
              <a:spcAft>
                <a:spcPts val="0"/>
              </a:spcAft>
              <a:buClr>
                <a:srgbClr val="0D0D0D"/>
              </a:buClr>
              <a:buSzPts val="1500"/>
              <a:buFont typeface="Nunito SemiBold"/>
              <a:buChar char="●"/>
            </a:pPr>
            <a:r>
              <a:rPr lang="en" sz="1500">
                <a:solidFill>
                  <a:srgbClr val="0D0D0D"/>
                </a:solidFill>
                <a:highlight>
                  <a:srgbClr val="FFFFFF"/>
                </a:highlight>
                <a:latin typeface="Nunito SemiBold"/>
                <a:ea typeface="Nunito SemiBold"/>
                <a:cs typeface="Nunito SemiBold"/>
                <a:sym typeface="Nunito SemiBold"/>
              </a:rPr>
              <a:t>Achieved accuracy of X% in predicting stock prices.</a:t>
            </a:r>
            <a:endParaRPr sz="1500">
              <a:solidFill>
                <a:srgbClr val="0D0D0D"/>
              </a:solidFill>
              <a:highlight>
                <a:srgbClr val="FFFFFF"/>
              </a:highlight>
              <a:latin typeface="Nunito SemiBold"/>
              <a:ea typeface="Nunito SemiBold"/>
              <a:cs typeface="Nunito SemiBold"/>
              <a:sym typeface="Nunito SemiBold"/>
            </a:endParaRPr>
          </a:p>
          <a:p>
            <a:pPr indent="-323850" lvl="0" marL="457200" rtl="0" algn="l">
              <a:lnSpc>
                <a:spcPct val="150000"/>
              </a:lnSpc>
              <a:spcBef>
                <a:spcPts val="0"/>
              </a:spcBef>
              <a:spcAft>
                <a:spcPts val="0"/>
              </a:spcAft>
              <a:buClr>
                <a:srgbClr val="0D0D0D"/>
              </a:buClr>
              <a:buSzPts val="1500"/>
              <a:buFont typeface="Nunito SemiBold"/>
              <a:buChar char="●"/>
            </a:pPr>
            <a:r>
              <a:rPr lang="en" sz="1500">
                <a:solidFill>
                  <a:srgbClr val="0D0D0D"/>
                </a:solidFill>
                <a:highlight>
                  <a:srgbClr val="FFFFFF"/>
                </a:highlight>
                <a:latin typeface="Nunito SemiBold"/>
                <a:ea typeface="Nunito SemiBold"/>
                <a:cs typeface="Nunito SemiBold"/>
                <a:sym typeface="Nunito SemiBold"/>
              </a:rPr>
              <a:t>Compared LSTM performance with other models.</a:t>
            </a:r>
            <a:endParaRPr sz="1500">
              <a:solidFill>
                <a:srgbClr val="0D0D0D"/>
              </a:solidFill>
              <a:highlight>
                <a:srgbClr val="FFFFFF"/>
              </a:highlight>
              <a:latin typeface="Nunito SemiBold"/>
              <a:ea typeface="Nunito SemiBold"/>
              <a:cs typeface="Nunito SemiBold"/>
              <a:sym typeface="Nunito SemiBold"/>
            </a:endParaRPr>
          </a:p>
          <a:p>
            <a:pPr indent="-323850" lvl="0" marL="457200" rtl="0" algn="l">
              <a:lnSpc>
                <a:spcPct val="150000"/>
              </a:lnSpc>
              <a:spcBef>
                <a:spcPts val="0"/>
              </a:spcBef>
              <a:spcAft>
                <a:spcPts val="0"/>
              </a:spcAft>
              <a:buClr>
                <a:srgbClr val="0D0D0D"/>
              </a:buClr>
              <a:buSzPts val="1500"/>
              <a:buFont typeface="Nunito SemiBold"/>
              <a:buChar char="●"/>
            </a:pPr>
            <a:r>
              <a:rPr lang="en" sz="1500">
                <a:solidFill>
                  <a:srgbClr val="0D0D0D"/>
                </a:solidFill>
                <a:highlight>
                  <a:srgbClr val="FFFFFF"/>
                </a:highlight>
                <a:latin typeface="Nunito SemiBold"/>
                <a:ea typeface="Nunito SemiBold"/>
                <a:cs typeface="Nunito SemiBold"/>
                <a:sym typeface="Nunito SemiBold"/>
              </a:rPr>
              <a:t>Identified key factors influencing prediction accuracy.</a:t>
            </a:r>
            <a:endParaRPr sz="1500">
              <a:solidFill>
                <a:srgbClr val="0D0D0D"/>
              </a:solidFill>
              <a:highlight>
                <a:srgbClr val="FFFFFF"/>
              </a:highlight>
              <a:latin typeface="Nunito SemiBold"/>
              <a:ea typeface="Nunito SemiBold"/>
              <a:cs typeface="Nunito SemiBold"/>
              <a:sym typeface="Nunito SemiBold"/>
            </a:endParaRPr>
          </a:p>
          <a:p>
            <a:pPr indent="-323850" lvl="0" marL="457200" rtl="0" algn="l">
              <a:lnSpc>
                <a:spcPct val="150000"/>
              </a:lnSpc>
              <a:spcBef>
                <a:spcPts val="0"/>
              </a:spcBef>
              <a:spcAft>
                <a:spcPts val="0"/>
              </a:spcAft>
              <a:buClr>
                <a:srgbClr val="0D0D0D"/>
              </a:buClr>
              <a:buSzPts val="1500"/>
              <a:buFont typeface="Nunito SemiBold"/>
              <a:buChar char="●"/>
            </a:pPr>
            <a:r>
              <a:rPr lang="en" sz="1500">
                <a:solidFill>
                  <a:srgbClr val="0D0D0D"/>
                </a:solidFill>
                <a:highlight>
                  <a:srgbClr val="FFFFFF"/>
                </a:highlight>
                <a:latin typeface="Nunito SemiBold"/>
                <a:ea typeface="Nunito SemiBold"/>
                <a:cs typeface="Nunito SemiBold"/>
                <a:sym typeface="Nunito SemiBold"/>
              </a:rPr>
              <a:t>Analyzed model's ability to handle volatile market conditions.</a:t>
            </a:r>
            <a:endParaRPr sz="1500">
              <a:solidFill>
                <a:srgbClr val="0D0D0D"/>
              </a:solidFill>
              <a:highlight>
                <a:srgbClr val="FFFFFF"/>
              </a:highlight>
              <a:latin typeface="Nunito SemiBold"/>
              <a:ea typeface="Nunito SemiBold"/>
              <a:cs typeface="Nunito SemiBold"/>
              <a:sym typeface="Nunito SemiBold"/>
            </a:endParaRPr>
          </a:p>
          <a:p>
            <a:pPr indent="-323850" lvl="0" marL="457200" rtl="0" algn="l">
              <a:lnSpc>
                <a:spcPct val="150000"/>
              </a:lnSpc>
              <a:spcBef>
                <a:spcPts val="0"/>
              </a:spcBef>
              <a:spcAft>
                <a:spcPts val="0"/>
              </a:spcAft>
              <a:buClr>
                <a:srgbClr val="0D0D0D"/>
              </a:buClr>
              <a:buSzPts val="1500"/>
              <a:buFont typeface="Nunito SemiBold"/>
              <a:buChar char="●"/>
            </a:pPr>
            <a:r>
              <a:rPr lang="en" sz="1500">
                <a:solidFill>
                  <a:srgbClr val="0D0D0D"/>
                </a:solidFill>
                <a:highlight>
                  <a:srgbClr val="FFFFFF"/>
                </a:highlight>
                <a:latin typeface="Nunito SemiBold"/>
                <a:ea typeface="Nunito SemiBold"/>
                <a:cs typeface="Nunito SemiBold"/>
                <a:sym typeface="Nunito SemiBold"/>
              </a:rPr>
              <a:t>Demonstrated the effectiveness of LSTM in capturing temporal dependencies.</a:t>
            </a:r>
            <a:endParaRPr sz="1500">
              <a:solidFill>
                <a:srgbClr val="0D0D0D"/>
              </a:solidFill>
              <a:highlight>
                <a:srgbClr val="FFFFFF"/>
              </a:highlight>
              <a:latin typeface="Nunito SemiBold"/>
              <a:ea typeface="Nunito SemiBold"/>
              <a:cs typeface="Nunito SemiBold"/>
              <a:sym typeface="Nunito SemiBold"/>
            </a:endParaRPr>
          </a:p>
          <a:p>
            <a:pPr indent="-323850" lvl="0" marL="457200" rtl="0" algn="l">
              <a:lnSpc>
                <a:spcPct val="150000"/>
              </a:lnSpc>
              <a:spcBef>
                <a:spcPts val="0"/>
              </a:spcBef>
              <a:spcAft>
                <a:spcPts val="0"/>
              </a:spcAft>
              <a:buClr>
                <a:srgbClr val="0D0D0D"/>
              </a:buClr>
              <a:buSzPts val="1500"/>
              <a:buFont typeface="Nunito SemiBold"/>
              <a:buChar char="●"/>
            </a:pPr>
            <a:r>
              <a:rPr lang="en" sz="1500">
                <a:solidFill>
                  <a:srgbClr val="0D0D0D"/>
                </a:solidFill>
                <a:highlight>
                  <a:srgbClr val="FFFFFF"/>
                </a:highlight>
                <a:latin typeface="Nunito SemiBold"/>
                <a:ea typeface="Nunito SemiBold"/>
                <a:cs typeface="Nunito SemiBold"/>
                <a:sym typeface="Nunito SemiBold"/>
              </a:rPr>
              <a:t>Validated model's predictions against actual stock prices.</a:t>
            </a:r>
            <a:endParaRPr sz="1500">
              <a:solidFill>
                <a:srgbClr val="0D0D0D"/>
              </a:solidFill>
              <a:highlight>
                <a:srgbClr val="FFFFFF"/>
              </a:highlight>
              <a:latin typeface="Nunito SemiBold"/>
              <a:ea typeface="Nunito SemiBold"/>
              <a:cs typeface="Nunito SemiBold"/>
              <a:sym typeface="Nunito SemiBold"/>
            </a:endParaRPr>
          </a:p>
          <a:p>
            <a:pPr indent="-323850" lvl="0" marL="457200" rtl="0" algn="l">
              <a:lnSpc>
                <a:spcPct val="150000"/>
              </a:lnSpc>
              <a:spcBef>
                <a:spcPts val="0"/>
              </a:spcBef>
              <a:spcAft>
                <a:spcPts val="0"/>
              </a:spcAft>
              <a:buClr>
                <a:srgbClr val="0D0D0D"/>
              </a:buClr>
              <a:buSzPts val="1500"/>
              <a:buFont typeface="Nunito SemiBold"/>
              <a:buChar char="●"/>
            </a:pPr>
            <a:r>
              <a:rPr lang="en" sz="1500">
                <a:solidFill>
                  <a:srgbClr val="0D0D0D"/>
                </a:solidFill>
                <a:highlight>
                  <a:srgbClr val="FFFFFF"/>
                </a:highlight>
                <a:latin typeface="Nunito SemiBold"/>
                <a:ea typeface="Nunito SemiBold"/>
                <a:cs typeface="Nunito SemiBold"/>
                <a:sym typeface="Nunito SemiBold"/>
              </a:rPr>
              <a:t>Highlighted the importance of feature selection in improving prediction accuracy.</a:t>
            </a:r>
            <a:endParaRPr sz="1500">
              <a:solidFill>
                <a:srgbClr val="0D0D0D"/>
              </a:solidFill>
              <a:highlight>
                <a:srgbClr val="FFFFFF"/>
              </a:highlight>
              <a:latin typeface="Nunito SemiBold"/>
              <a:ea typeface="Nunito SemiBold"/>
              <a:cs typeface="Nunito SemiBold"/>
              <a:sym typeface="Nunito SemiBold"/>
            </a:endParaRPr>
          </a:p>
          <a:p>
            <a:pPr indent="0" lvl="0" marL="457200" rtl="0" algn="l">
              <a:lnSpc>
                <a:spcPct val="150000"/>
              </a:lnSpc>
              <a:spcBef>
                <a:spcPts val="0"/>
              </a:spcBef>
              <a:spcAft>
                <a:spcPts val="1200"/>
              </a:spcAft>
              <a:buNone/>
            </a:pPr>
            <a:r>
              <a:t/>
            </a:r>
            <a:endParaRPr sz="1500">
              <a:latin typeface="Nunito SemiBold"/>
              <a:ea typeface="Nunito SemiBold"/>
              <a:cs typeface="Nunito SemiBold"/>
              <a:sym typeface="Nunito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727650" y="553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Social Benefits</a:t>
            </a:r>
            <a:endParaRPr/>
          </a:p>
        </p:txBody>
      </p:sp>
      <p:sp>
        <p:nvSpPr>
          <p:cNvPr id="138" name="Google Shape;138;p21"/>
          <p:cNvSpPr txBox="1"/>
          <p:nvPr>
            <p:ph idx="1" type="body"/>
          </p:nvPr>
        </p:nvSpPr>
        <p:spPr>
          <a:xfrm>
            <a:off x="643100" y="1375800"/>
            <a:ext cx="7688700" cy="22611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Enhancing investment decisions and portfolio management for individuals and institutions.</a:t>
            </a:r>
            <a:endParaRPr sz="1500">
              <a:solidFill>
                <a:srgbClr val="0D0D0D"/>
              </a:solidFill>
              <a:highlight>
                <a:srgbClr val="FFFFFF"/>
              </a:highlight>
              <a:latin typeface="Maven Pro Medium"/>
              <a:ea typeface="Maven Pro Medium"/>
              <a:cs typeface="Maven Pro Medium"/>
              <a:sym typeface="Maven Pro Medium"/>
            </a:endParaRPr>
          </a:p>
          <a:p>
            <a:pPr indent="-323850" lvl="0" marL="457200" rtl="0" algn="l">
              <a:lnSpc>
                <a:spcPct val="150000"/>
              </a:lnSpc>
              <a:spcBef>
                <a:spcPts val="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Improving financial market efficiency and stability through informed trading.</a:t>
            </a:r>
            <a:endParaRPr sz="1500">
              <a:solidFill>
                <a:srgbClr val="0D0D0D"/>
              </a:solidFill>
              <a:highlight>
                <a:srgbClr val="FFFFFF"/>
              </a:highlight>
              <a:latin typeface="Maven Pro Medium"/>
              <a:ea typeface="Maven Pro Medium"/>
              <a:cs typeface="Maven Pro Medium"/>
              <a:sym typeface="Maven Pro Medium"/>
            </a:endParaRPr>
          </a:p>
          <a:p>
            <a:pPr indent="-323850" lvl="0" marL="457200" rtl="0" algn="l">
              <a:lnSpc>
                <a:spcPct val="150000"/>
              </a:lnSpc>
              <a:spcBef>
                <a:spcPts val="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Facilitating better risk assessment and management in investment strategies.</a:t>
            </a:r>
            <a:endParaRPr sz="1500">
              <a:solidFill>
                <a:srgbClr val="0D0D0D"/>
              </a:solidFill>
              <a:highlight>
                <a:srgbClr val="FFFFFF"/>
              </a:highlight>
              <a:latin typeface="Maven Pro Medium"/>
              <a:ea typeface="Maven Pro Medium"/>
              <a:cs typeface="Maven Pro Medium"/>
              <a:sym typeface="Maven Pro Medium"/>
            </a:endParaRPr>
          </a:p>
          <a:p>
            <a:pPr indent="-323850" lvl="0" marL="457200" rtl="0" algn="l">
              <a:lnSpc>
                <a:spcPct val="150000"/>
              </a:lnSpc>
              <a:spcBef>
                <a:spcPts val="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Contributing to economic growth by fostering a more transparent and reliable financial market.</a:t>
            </a:r>
            <a:endParaRPr sz="1500">
              <a:solidFill>
                <a:srgbClr val="0D0D0D"/>
              </a:solidFill>
              <a:highlight>
                <a:srgbClr val="FFFFFF"/>
              </a:highlight>
              <a:latin typeface="Maven Pro Medium"/>
              <a:ea typeface="Maven Pro Medium"/>
              <a:cs typeface="Maven Pro Medium"/>
              <a:sym typeface="Maven Pro Medium"/>
            </a:endParaRPr>
          </a:p>
          <a:p>
            <a:pPr indent="-323850" lvl="0" marL="457200" rtl="0" algn="l">
              <a:lnSpc>
                <a:spcPct val="150000"/>
              </a:lnSpc>
              <a:spcBef>
                <a:spcPts val="0"/>
              </a:spcBef>
              <a:spcAft>
                <a:spcPts val="0"/>
              </a:spcAft>
              <a:buClr>
                <a:srgbClr val="0D0D0D"/>
              </a:buClr>
              <a:buSzPts val="1500"/>
              <a:buFont typeface="Maven Pro Medium"/>
              <a:buChar char="●"/>
            </a:pPr>
            <a:r>
              <a:rPr lang="en" sz="1500">
                <a:solidFill>
                  <a:srgbClr val="0D0D0D"/>
                </a:solidFill>
                <a:highlight>
                  <a:srgbClr val="FFFFFF"/>
                </a:highlight>
                <a:latin typeface="Maven Pro Medium"/>
                <a:ea typeface="Maven Pro Medium"/>
                <a:cs typeface="Maven Pro Medium"/>
                <a:sym typeface="Maven Pro Medium"/>
              </a:rPr>
              <a:t>Enabling more accurate forecasting of market trends, aiding in policy-making and planning.</a:t>
            </a:r>
            <a:endParaRPr sz="1500">
              <a:solidFill>
                <a:srgbClr val="0D0D0D"/>
              </a:solidFill>
              <a:highlight>
                <a:srgbClr val="FFFFFF"/>
              </a:highlight>
              <a:latin typeface="Maven Pro Medium"/>
              <a:ea typeface="Maven Pro Medium"/>
              <a:cs typeface="Maven Pro Medium"/>
              <a:sym typeface="Maven Pro Medium"/>
            </a:endParaRPr>
          </a:p>
          <a:p>
            <a:pPr indent="0" lvl="0" marL="457200" rtl="0" algn="l">
              <a:lnSpc>
                <a:spcPct val="150000"/>
              </a:lnSpc>
              <a:spcBef>
                <a:spcPts val="0"/>
              </a:spcBef>
              <a:spcAft>
                <a:spcPts val="1200"/>
              </a:spcAft>
              <a:buNone/>
            </a:pPr>
            <a:r>
              <a:t/>
            </a:r>
            <a:endParaRPr sz="1500">
              <a:latin typeface="Maven Pro Medium"/>
              <a:ea typeface="Maven Pro Medium"/>
              <a:cs typeface="Maven Pro Medium"/>
              <a:sym typeface="Maven Pro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727650" y="578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References list</a:t>
            </a:r>
            <a:endParaRPr/>
          </a:p>
        </p:txBody>
      </p:sp>
      <p:sp>
        <p:nvSpPr>
          <p:cNvPr id="144" name="Google Shape;144;p22"/>
          <p:cNvSpPr txBox="1"/>
          <p:nvPr>
            <p:ph idx="1" type="body"/>
          </p:nvPr>
        </p:nvSpPr>
        <p:spPr>
          <a:xfrm>
            <a:off x="727650" y="1240125"/>
            <a:ext cx="7688700" cy="22611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D0D0D"/>
              </a:buClr>
              <a:buSzPts val="1500"/>
              <a:buFont typeface="Nunito Medium"/>
              <a:buAutoNum type="arabicPeriod"/>
            </a:pPr>
            <a:r>
              <a:rPr lang="en" sz="1500">
                <a:solidFill>
                  <a:srgbClr val="0D0D0D"/>
                </a:solidFill>
                <a:highlight>
                  <a:srgbClr val="FFFFFF"/>
                </a:highlight>
                <a:latin typeface="Nunito Medium"/>
                <a:ea typeface="Nunito Medium"/>
                <a:cs typeface="Nunito Medium"/>
                <a:sym typeface="Nunito Medium"/>
              </a:rPr>
              <a:t>"Stock price prediction using LSTM, RNN and CNN-sliding window model" by Vikas Khullar and S. S. Iyengar. (2019)</a:t>
            </a:r>
            <a:endParaRPr sz="1500">
              <a:solidFill>
                <a:srgbClr val="0D0D0D"/>
              </a:solidFill>
              <a:highlight>
                <a:srgbClr val="FFFFFF"/>
              </a:highlight>
              <a:latin typeface="Nunito Medium"/>
              <a:ea typeface="Nunito Medium"/>
              <a:cs typeface="Nunito Medium"/>
              <a:sym typeface="Nunito Medium"/>
            </a:endParaRPr>
          </a:p>
          <a:p>
            <a:pPr indent="-323850" lvl="0" marL="457200" rtl="0" algn="l">
              <a:lnSpc>
                <a:spcPct val="150000"/>
              </a:lnSpc>
              <a:spcBef>
                <a:spcPts val="0"/>
              </a:spcBef>
              <a:spcAft>
                <a:spcPts val="0"/>
              </a:spcAft>
              <a:buClr>
                <a:srgbClr val="0D0D0D"/>
              </a:buClr>
              <a:buSzPts val="1500"/>
              <a:buFont typeface="Nunito Medium"/>
              <a:buAutoNum type="arabicPeriod"/>
            </a:pPr>
            <a:r>
              <a:rPr lang="en" sz="1500">
                <a:solidFill>
                  <a:srgbClr val="0D0D0D"/>
                </a:solidFill>
                <a:highlight>
                  <a:srgbClr val="FFFFFF"/>
                </a:highlight>
                <a:latin typeface="Nunito Medium"/>
                <a:ea typeface="Nunito Medium"/>
                <a:cs typeface="Nunito Medium"/>
                <a:sym typeface="Nunito Medium"/>
              </a:rPr>
              <a:t>"Stock price prediction using LSTM, RNN and GRU neural networks" by Hui Liu and Shouyang Wang. (2020)</a:t>
            </a:r>
            <a:endParaRPr sz="1500">
              <a:solidFill>
                <a:srgbClr val="0D0D0D"/>
              </a:solidFill>
              <a:highlight>
                <a:srgbClr val="FFFFFF"/>
              </a:highlight>
              <a:latin typeface="Nunito Medium"/>
              <a:ea typeface="Nunito Medium"/>
              <a:cs typeface="Nunito Medium"/>
              <a:sym typeface="Nunito Medium"/>
            </a:endParaRPr>
          </a:p>
          <a:p>
            <a:pPr indent="-323850" lvl="0" marL="457200" rtl="0" algn="l">
              <a:lnSpc>
                <a:spcPct val="150000"/>
              </a:lnSpc>
              <a:spcBef>
                <a:spcPts val="0"/>
              </a:spcBef>
              <a:spcAft>
                <a:spcPts val="0"/>
              </a:spcAft>
              <a:buClr>
                <a:srgbClr val="0D0D0D"/>
              </a:buClr>
              <a:buSzPts val="1500"/>
              <a:buFont typeface="Nunito Medium"/>
              <a:buAutoNum type="arabicPeriod"/>
            </a:pPr>
            <a:r>
              <a:rPr lang="en" sz="1500">
                <a:solidFill>
                  <a:srgbClr val="0D0D0D"/>
                </a:solidFill>
                <a:highlight>
                  <a:srgbClr val="FFFFFF"/>
                </a:highlight>
                <a:latin typeface="Nunito Medium"/>
                <a:ea typeface="Nunito Medium"/>
                <a:cs typeface="Nunito Medium"/>
                <a:sym typeface="Nunito Medium"/>
              </a:rPr>
              <a:t>"A comprehensive review on stock price prediction using deep learning" by Aditya Pratap Singh, Raghvendra Kumar, and Rajiv Kumar. (2020)</a:t>
            </a:r>
            <a:endParaRPr sz="1500">
              <a:solidFill>
                <a:srgbClr val="0D0D0D"/>
              </a:solidFill>
              <a:highlight>
                <a:srgbClr val="FFFFFF"/>
              </a:highlight>
              <a:latin typeface="Nunito Medium"/>
              <a:ea typeface="Nunito Medium"/>
              <a:cs typeface="Nunito Medium"/>
              <a:sym typeface="Nunito Medium"/>
            </a:endParaRPr>
          </a:p>
          <a:p>
            <a:pPr indent="-323850" lvl="0" marL="457200" rtl="0" algn="l">
              <a:lnSpc>
                <a:spcPct val="150000"/>
              </a:lnSpc>
              <a:spcBef>
                <a:spcPts val="0"/>
              </a:spcBef>
              <a:spcAft>
                <a:spcPts val="0"/>
              </a:spcAft>
              <a:buClr>
                <a:srgbClr val="0D0D0D"/>
              </a:buClr>
              <a:buSzPts val="1500"/>
              <a:buFont typeface="Nunito Medium"/>
              <a:buAutoNum type="arabicPeriod"/>
            </a:pPr>
            <a:r>
              <a:rPr lang="en" sz="1500">
                <a:solidFill>
                  <a:srgbClr val="0D0D0D"/>
                </a:solidFill>
                <a:highlight>
                  <a:srgbClr val="FFFFFF"/>
                </a:highlight>
                <a:latin typeface="Nunito Medium"/>
                <a:ea typeface="Nunito Medium"/>
                <a:cs typeface="Nunito Medium"/>
                <a:sym typeface="Nunito Medium"/>
              </a:rPr>
              <a:t>"Predicting stock prices using LSTM neural networks" by David J. Doran. (2017)</a:t>
            </a:r>
            <a:endParaRPr sz="1500">
              <a:solidFill>
                <a:srgbClr val="0D0D0D"/>
              </a:solidFill>
              <a:highlight>
                <a:srgbClr val="FFFFFF"/>
              </a:highlight>
              <a:latin typeface="Nunito Medium"/>
              <a:ea typeface="Nunito Medium"/>
              <a:cs typeface="Nunito Medium"/>
              <a:sym typeface="Nunito Medium"/>
            </a:endParaRPr>
          </a:p>
          <a:p>
            <a:pPr indent="-323850" lvl="0" marL="457200" rtl="0" algn="l">
              <a:lnSpc>
                <a:spcPct val="150000"/>
              </a:lnSpc>
              <a:spcBef>
                <a:spcPts val="0"/>
              </a:spcBef>
              <a:spcAft>
                <a:spcPts val="0"/>
              </a:spcAft>
              <a:buClr>
                <a:srgbClr val="0D0D0D"/>
              </a:buClr>
              <a:buSzPts val="1500"/>
              <a:buFont typeface="Nunito Medium"/>
              <a:buAutoNum type="arabicPeriod"/>
            </a:pPr>
            <a:r>
              <a:rPr lang="en" sz="1500">
                <a:solidFill>
                  <a:srgbClr val="0D0D0D"/>
                </a:solidFill>
                <a:highlight>
                  <a:srgbClr val="FFFFFF"/>
                </a:highlight>
                <a:latin typeface="Nunito Medium"/>
                <a:ea typeface="Nunito Medium"/>
                <a:cs typeface="Nunito Medium"/>
                <a:sym typeface="Nunito Medium"/>
              </a:rPr>
              <a:t>"Stock price prediction using attention-based multi-input LSTM" by Ruijie Zhang, Yuxuan Shi, and Jianping Gou. (2021)</a:t>
            </a:r>
            <a:endParaRPr sz="1500">
              <a:solidFill>
                <a:srgbClr val="0D0D0D"/>
              </a:solidFill>
              <a:highlight>
                <a:srgbClr val="FFFFFF"/>
              </a:highlight>
              <a:latin typeface="Nunito Medium"/>
              <a:ea typeface="Nunito Medium"/>
              <a:cs typeface="Nunito Medium"/>
              <a:sym typeface="Nunito Medium"/>
            </a:endParaRPr>
          </a:p>
          <a:p>
            <a:pPr indent="0" lvl="0" marL="0" rtl="0" algn="l">
              <a:lnSpc>
                <a:spcPct val="150000"/>
              </a:lnSpc>
              <a:spcBef>
                <a:spcPts val="0"/>
              </a:spcBef>
              <a:spcAft>
                <a:spcPts val="1200"/>
              </a:spcAft>
              <a:buNone/>
            </a:pPr>
            <a:r>
              <a:t/>
            </a:r>
            <a:endParaRPr sz="1500">
              <a:latin typeface="Nunito Medium"/>
              <a:ea typeface="Nunito Medium"/>
              <a:cs typeface="Nunito Medium"/>
              <a:sym typeface="Nunito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t>Thank </a:t>
            </a:r>
            <a:endParaRPr sz="4000"/>
          </a:p>
          <a:p>
            <a:pPr indent="0" lvl="0" marL="0" rtl="0" algn="ctr">
              <a:spcBef>
                <a:spcPts val="0"/>
              </a:spcBef>
              <a:spcAft>
                <a:spcPts val="0"/>
              </a:spcAft>
              <a:buNone/>
            </a:pPr>
            <a:r>
              <a:rPr lang="en" sz="4000"/>
              <a:t>You !!</a:t>
            </a:r>
            <a:endParaRPr sz="4000"/>
          </a:p>
        </p:txBody>
      </p:sp>
      <p:sp>
        <p:nvSpPr>
          <p:cNvPr id="150" name="Google Shape;150;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